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lus Jakarta Sans"/>
      <p:bold r:id="rId18"/>
    </p:embeddedFont>
    <p:embeddedFont>
      <p:font typeface="Inter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52850" y="4489102"/>
            <a:ext cx="46863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975" y="4646265"/>
            <a:ext cx="114300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646265"/>
            <a:ext cx="133350" cy="133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5843" y="1930747"/>
            <a:ext cx="10120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POWERPOINT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835" y="2283172"/>
            <a:ext cx="10626328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Plus Jakarta Sans"/>
              </a:rPr>
              <a:t>Heart Disease Prediction Using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6468" y="3612802"/>
            <a:ext cx="773906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An End-to-End Clinical Decision Support Model for Early Risk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4040" y="4627215"/>
            <a:ext cx="2369343" cy="1619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Inter"/>
              </a:rPr>
              <a:t>UCI Heart Disease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5975" y="4612927"/>
            <a:ext cx="333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Inter"/>
              </a:rPr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3606" y="4627215"/>
            <a:ext cx="2452687" cy="1619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293B"/>
                </a:solidFill>
                <a:latin typeface="Inter"/>
              </a:rPr>
              <a:t>Predictive ML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53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4352925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97180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971800"/>
            <a:ext cx="38100" cy="13906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05275" y="29718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05300" y="4352925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5300" y="297180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5300" y="2971800"/>
            <a:ext cx="38100" cy="13906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77175" y="29718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4352925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297180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7200" y="2971800"/>
            <a:ext cx="38100" cy="13906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49075" y="29718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233737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33737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233737"/>
            <a:ext cx="1714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6650" y="6296025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19100"/>
            <a:ext cx="3417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BACKGROUND &amp; MOTIVATION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28650"/>
            <a:ext cx="358794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6800" y="3209925"/>
            <a:ext cx="357901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Global Mortality Leader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3524250"/>
            <a:ext cx="3171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Cardiovascular diseases remain the leading cause of death globally, accounting for an estimated 17.9 million lives each year.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8700" y="3209925"/>
            <a:ext cx="357901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Delayed Diagnostics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524250"/>
            <a:ext cx="3171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Traditional clinical diagnosis often relies on late-stage symptoms and costly, invasive diagnostic measures.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0600" y="3209925"/>
            <a:ext cx="3579018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Predictive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3900" y="3524250"/>
            <a:ext cx="3171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Complex interactions among clinical features make manual early risk assessment difficult without predictive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705100"/>
            <a:ext cx="35814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5300" y="2705100"/>
            <a:ext cx="35814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705100"/>
            <a:ext cx="35814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6650" y="6296025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19100"/>
            <a:ext cx="3262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GOALS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28650"/>
            <a:ext cx="342542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943225"/>
            <a:ext cx="3881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476625"/>
            <a:ext cx="388143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7909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Preprocess and analyze key clinical features from the UCI Machine Learning Heart Disease repository.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3425" y="2943225"/>
            <a:ext cx="3881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3476625"/>
            <a:ext cx="388143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Model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37909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Train and evaluate multiple ML algorithms (Logistic Regression, Random Forest, XGBoost, Decision Tree).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943225"/>
            <a:ext cx="38766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476625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High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7909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Maximize predictive recall and precision to prevent false negatives in early medical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98455" y="2819400"/>
            <a:ext cx="6160144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400300"/>
            <a:ext cx="473645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43325"/>
            <a:ext cx="4736455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36580" y="3371850"/>
            <a:ext cx="2765821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54801" y="3371850"/>
            <a:ext cx="2765821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662237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00526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87125" y="6296025"/>
            <a:ext cx="657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19100"/>
            <a:ext cx="31313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DATA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28650"/>
            <a:ext cx="328791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Dataset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6580" y="3057525"/>
            <a:ext cx="645541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Data Partitioning &amp;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2638425"/>
            <a:ext cx="5077606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Primary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2952750"/>
            <a:ext cx="43554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UCI Machine Learning Repository (Cleveland Dataset comprising 303 patient records).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981450"/>
            <a:ext cx="5058556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Target Variable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295775"/>
            <a:ext cx="43554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Binary Classification: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0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= No Heart Disease Presence,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1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= Heart Disease Detected.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3258" y="3533775"/>
            <a:ext cx="3052464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2563EB"/>
                </a:solidFill>
                <a:latin typeface="Plus Jakarta Sans"/>
              </a:rPr>
              <a:t>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3258" y="3952875"/>
            <a:ext cx="305246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Training Set (242 records)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1480" y="3533775"/>
            <a:ext cx="3052464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059669"/>
                </a:solidFill>
                <a:latin typeface="Plus Jakarta Sans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1480" y="3952875"/>
            <a:ext cx="305246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Test Set (61 records)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2695575"/>
            <a:ext cx="1621035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54435" y="2695575"/>
            <a:ext cx="4108102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62538" y="2695575"/>
            <a:ext cx="5396061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109912"/>
            <a:ext cx="1621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54435" y="3109912"/>
            <a:ext cx="4108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2538" y="3109912"/>
            <a:ext cx="5396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3509962"/>
            <a:ext cx="1621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54435" y="3509962"/>
            <a:ext cx="4108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2538" y="3509962"/>
            <a:ext cx="5396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910012"/>
            <a:ext cx="1621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54435" y="3910012"/>
            <a:ext cx="4108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2538" y="3910012"/>
            <a:ext cx="5396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4310062"/>
            <a:ext cx="1621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54435" y="4310062"/>
            <a:ext cx="4108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2538" y="4310062"/>
            <a:ext cx="5396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710112"/>
            <a:ext cx="1621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54435" y="4710112"/>
            <a:ext cx="4108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2538" y="4710112"/>
            <a:ext cx="5396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110162"/>
            <a:ext cx="1621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54435" y="5110162"/>
            <a:ext cx="41081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2538" y="5110162"/>
            <a:ext cx="5396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33400" y="2305050"/>
          <a:ext cx="11125198" cy="2819400"/>
        </p:xfrm>
        <a:graphic>
          <a:graphicData uri="http://schemas.openxmlformats.org/drawingml/2006/table">
            <a:tbl>
              <a:tblPr/>
              <a:tblGrid>
                <a:gridCol w="1621035"/>
                <a:gridCol w="4108102"/>
                <a:gridCol w="5396061"/>
              </a:tblGrid>
              <a:tr h="402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Feature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Clinical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Value Type / Unit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Age &amp; Sex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Patient demographic indicators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Years / Binary (1 = Male, 0 = Female)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CP (Chest Pain)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Chest pain severity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Categorical (0: Typical, 1: Atypical, 2: Non-anginal, 3: Asymptomatic)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Trestbps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Resting blood pressure on admission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Continuous (mm Hg)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Chol &amp; FBS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Serum cholesterol &amp; Fasting blood sugar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mg/dl / Binary (&gt; 120 mg/dl)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27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Thalach &amp; Exang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Max heart rate achieved &amp; Exercise induced angina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BPM / Binary (1 = Yes, 0 = No)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77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Oldpeak &amp; Slope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ST depression induced by exercise &amp; ST slope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Continuous value / Ordinal (0, 1,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6650" y="6296025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19100"/>
            <a:ext cx="629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CLINICAL ATTRIBUTES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28650"/>
            <a:ext cx="661332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Dataset Features (13 Key Predictors)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862262"/>
            <a:ext cx="2388393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45668" y="2862262"/>
            <a:ext cx="2388393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7937" y="2862262"/>
            <a:ext cx="2388393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70206" y="2862262"/>
            <a:ext cx="2388393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196" y="3100387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293" y="3548062"/>
            <a:ext cx="1428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465" y="3100387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562" y="3548062"/>
            <a:ext cx="1428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634" y="3100387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6831" y="3548062"/>
            <a:ext cx="14287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2003" y="3100387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6650" y="6296025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419100"/>
            <a:ext cx="4167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SYSTEM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28650"/>
            <a:ext cx="437554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Proposed 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507" y="3519487"/>
            <a:ext cx="239017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1. Data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507" y="3833812"/>
            <a:ext cx="239017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Loading clinical records and checking missing values.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4775" y="3519487"/>
            <a:ext cx="239017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2.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4775" y="3833812"/>
            <a:ext cx="239017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Standard scaling, outlier treatment &amp; encoding.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7044" y="3519487"/>
            <a:ext cx="239017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3. Model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7044" y="3833812"/>
            <a:ext cx="239017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Applying ML algorithms with K-Fold Cross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9313" y="3519487"/>
            <a:ext cx="2390179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E293B"/>
                </a:solidFill>
                <a:latin typeface="Plus Jakarta Sans"/>
              </a:rPr>
              <a:t>4.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9313" y="3833812"/>
            <a:ext cx="239017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Performance testing via ROC-AUC &amp; Confusion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53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3071812"/>
            <a:ext cx="35814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233737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3233737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333750"/>
            <a:ext cx="1524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6650" y="6296025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19100"/>
            <a:ext cx="3405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28650"/>
            <a:ext cx="357544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Data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209925"/>
            <a:ext cx="359568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Cleaning &amp; Imputation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5242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Handled missing entries in vessel count and thallium scan parameters using median imputation.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0125" y="3209925"/>
            <a:ext cx="361473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Feature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35242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Applied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StandardScaler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to normalize continuous variables (age, trestbps, chol, thalach) to zero mean.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2975" y="3309937"/>
            <a:ext cx="362902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Categorical 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624262"/>
            <a:ext cx="3200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Converted nominal features (cp, restecg, slope) into dummy variables via One-Hot Encoding.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381250"/>
            <a:ext cx="54673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381250"/>
            <a:ext cx="54673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375"/>
            <a:ext cx="54673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762375"/>
            <a:ext cx="54673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643187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643187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024312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024312"/>
            <a:ext cx="1905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87125" y="6296025"/>
            <a:ext cx="657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19100"/>
            <a:ext cx="5595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ALGORITHMIC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28650"/>
            <a:ext cx="5875734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Model Architecture &amp; Classifiers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2619375"/>
            <a:ext cx="599122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Random Forest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2933700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Ensemble of 100 decision trees utilizing bootstrap aggregation and random feature selection for maximum stability.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2619375"/>
            <a:ext cx="55149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XGBoost 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2933700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Gradient boosted trees optimizing cross-entropy loss with regularization to eliminate overfitting.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4000500"/>
            <a:ext cx="595312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Logistic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4314825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Linear baseline model utilizing sigmoid transformation to produce direct probability scores.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000500"/>
            <a:ext cx="54768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Decision Tree 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4314825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Single structural tree utilizing Gini impurity criteria for explicit decision rule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3095625"/>
            <a:ext cx="2484387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17787" y="3095625"/>
            <a:ext cx="1531143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48931" y="3095625"/>
            <a:ext cx="1499889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48821" y="3095625"/>
            <a:ext cx="2500014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48836" y="3095625"/>
            <a:ext cx="1499889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48726" y="3095625"/>
            <a:ext cx="1609873" cy="1905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3509962"/>
            <a:ext cx="2484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17787" y="3509962"/>
            <a:ext cx="1531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48931" y="350996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48821" y="3509962"/>
            <a:ext cx="2500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48836" y="350996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48726" y="3509962"/>
            <a:ext cx="1609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910012"/>
            <a:ext cx="2484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7787" y="3910012"/>
            <a:ext cx="1531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48931" y="391001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48821" y="3910012"/>
            <a:ext cx="2500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8836" y="391001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48726" y="3910012"/>
            <a:ext cx="1609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4310062"/>
            <a:ext cx="2484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17787" y="4310062"/>
            <a:ext cx="1531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48931" y="431006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48821" y="4310062"/>
            <a:ext cx="2500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48836" y="431006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48726" y="4310062"/>
            <a:ext cx="1609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4710112"/>
            <a:ext cx="24843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17787" y="4710112"/>
            <a:ext cx="1531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48931" y="471011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48821" y="4710112"/>
            <a:ext cx="25000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48836" y="4710112"/>
            <a:ext cx="1499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48726" y="4710112"/>
            <a:ext cx="16098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33400" y="2705100"/>
          <a:ext cx="11125195" cy="2019300"/>
        </p:xfrm>
        <a:graphic>
          <a:graphicData uri="http://schemas.openxmlformats.org/drawingml/2006/table">
            <a:tbl>
              <a:tblPr/>
              <a:tblGrid>
                <a:gridCol w="2484387"/>
                <a:gridCol w="1531143"/>
                <a:gridCol w="1499889"/>
                <a:gridCol w="2500014"/>
                <a:gridCol w="1499889"/>
                <a:gridCol w="1609873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Model Algorithm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Recall (Sensitivity)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40AF"/>
                          </a:solidFill>
                          <a:latin typeface="Plus Jakarta Sans"/>
                        </a:rPr>
                        <a:t>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90.16%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89.29%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90.62%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89.95%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0.933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XGBoost Classifier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88.52%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87.50%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89.10%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88.29%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0.915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85.25%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83.87%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86.66%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85.24%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Decision Tree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78.68%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76.47%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81.25%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78.79%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0.785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6650" y="6296025"/>
            <a:ext cx="6477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419100"/>
            <a:ext cx="61555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EXPERIMENTAL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628650"/>
            <a:ext cx="646330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Results &amp; Performance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524125"/>
            <a:ext cx="11125200" cy="3648075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162050"/>
            <a:ext cx="3581400" cy="1171575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05300" y="1162050"/>
            <a:ext cx="3581400" cy="1171575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1162050"/>
            <a:ext cx="3581400" cy="1171575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86062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0" y="6296025"/>
            <a:ext cx="704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19100"/>
            <a:ext cx="5929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TOP PERFORMER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28650"/>
            <a:ext cx="622577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Random Forest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762250"/>
            <a:ext cx="111537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Clinical Significance of High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076575"/>
            <a:ext cx="11420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Achieving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90.62% Recall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ensures that false negatives are minimized—critical in a diagnostic environment to avoid missing at-risk heart disease patients.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381" y="1400175"/>
            <a:ext cx="3881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Plus Jakarta Sans"/>
              </a:rPr>
              <a:t>90.16%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381" y="1933575"/>
            <a:ext cx="3881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Overall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5281" y="1400175"/>
            <a:ext cx="3881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Plus Jakarta Sans"/>
              </a:rPr>
              <a:t>90.62%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5281" y="1933575"/>
            <a:ext cx="3881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Recall (Sensitivity)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181" y="1400175"/>
            <a:ext cx="38814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2563EB"/>
                </a:solidFill>
                <a:latin typeface="Plus Jakarta Sans"/>
              </a:rPr>
              <a:t>0.933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181" y="1933575"/>
            <a:ext cx="3881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ROC-AUC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3038475"/>
            <a:ext cx="11125200" cy="11430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486150"/>
            <a:ext cx="11125200" cy="11430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933825"/>
            <a:ext cx="11125200" cy="11430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4381500"/>
            <a:ext cx="11125200" cy="114300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3038475"/>
            <a:ext cx="9456390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3486150"/>
            <a:ext cx="7565082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3933825"/>
            <a:ext cx="5785098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4381500"/>
            <a:ext cx="4894957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87125" y="6296025"/>
            <a:ext cx="657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19100"/>
            <a:ext cx="4953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EXPLAINABLE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28650"/>
            <a:ext cx="52006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Feature Importance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838450"/>
            <a:ext cx="1714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Chest Pain Type (CP)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2838450"/>
            <a:ext cx="1200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28.4%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3286125"/>
            <a:ext cx="2059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Max Heart Rate (Thalach)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0875" y="3286125"/>
            <a:ext cx="11334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21.1%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3733800"/>
            <a:ext cx="2047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ST Depression (Oldpeak)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2775" y="3733800"/>
            <a:ext cx="1171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16.8%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181475"/>
            <a:ext cx="2464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Number of Major Vessels (Ca)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2775" y="4181475"/>
            <a:ext cx="1171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14.2% 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172200"/>
            <a:ext cx="111252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1722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53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2971800"/>
            <a:ext cx="35814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233737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3233737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33737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296025"/>
            <a:ext cx="221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Heart Disease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58550" y="6296025"/>
            <a:ext cx="6858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Slide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19100"/>
            <a:ext cx="5024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28650"/>
            <a:ext cx="527565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Plus Jakarta Sans"/>
              </a:rPr>
              <a:t>Conclusion &amp; 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209925"/>
            <a:ext cx="361473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Superior ML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5242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Random Forest proved to be the most reliable classifier, yielding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90.16% accuracy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and a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0.933 AUC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score.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075" y="3209925"/>
            <a:ext cx="363378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Clinical Decision 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35242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Provides cardiologists with an objective early diagnostic tool, substantially lowering diagnostic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2025" y="3209925"/>
            <a:ext cx="3609975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Scalable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52425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Easily integrable into EHR (Electronic Health Record) systems for automated real-time patient screening.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796</Words>
  <Application>Microsoft Office PowerPoint</Application>
  <PresentationFormat>Widescreen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Windows_10</dc:creator>
  <cp:keywords/>
  <dc:description>generated using python-pptx</dc:description>
  <cp:lastModifiedBy>Windows_10</cp:lastModifiedBy>
  <cp:revision>3</cp:revision>
  <dcterms:created xsi:type="dcterms:W3CDTF">2013-01-27T09:14:16Z</dcterms:created>
  <dcterms:modified xsi:type="dcterms:W3CDTF">2026-10-23T19:14:53Z</dcterms:modified>
  <cp:category/>
</cp:coreProperties>
</file>